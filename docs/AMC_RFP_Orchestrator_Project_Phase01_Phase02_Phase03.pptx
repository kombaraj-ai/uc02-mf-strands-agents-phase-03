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9900"/>
                </a:solidFill>
                <a:latin typeface="Calibri"/>
              </a:rPr>
              <a:t>MUTUAL FUND AMC  •  AGENTIC AI ON 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AMC RFP &amp; Portfolio Insight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Orchestrator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C8D3DE"/>
                </a:solidFill>
                <a:latin typeface="Calibri"/>
              </a:rPr>
              <a:t>A Multi-Agent Agentic AI System for Institutional RFP</a:t>
            </a:r>
          </a:p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C8D3DE"/>
                </a:solidFill>
                <a:latin typeface="Calibri"/>
              </a:rPr>
              <a:t>and Portfolio Insight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57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A7B4"/>
                </a:solidFill>
                <a:latin typeface="Calibri"/>
              </a:rPr>
              <a:t>Built on the AWS Strands Agents Framework  |  Amazon Bedrock AgentCore  |  Terraform  |  GitHub Actions CI/CD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A7B4"/>
                </a:solidFill>
                <a:latin typeface="Calibri"/>
              </a:rPr>
              <a:t>Consolidated Project Report Deck (Phases 01–03)  •  July 2026</a:t>
            </a:r>
          </a:p>
        </p:txBody>
      </p:sp>
      <p:sp>
        <p:nvSpPr>
          <p:cNvPr id="9" name="Oval 8"/>
          <p:cNvSpPr/>
          <p:nvPr/>
        </p:nvSpPr>
        <p:spPr>
          <a:xfrm>
            <a:off x="9418320" y="1600200"/>
            <a:ext cx="256032" cy="256032"/>
          </a:xfrm>
          <a:prstGeom prst="ellipse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2368" y="1600200"/>
            <a:ext cx="256032" cy="256032"/>
          </a:xfrm>
          <a:prstGeom prst="ellipse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86416" y="1600200"/>
            <a:ext cx="256032" cy="256032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70464" y="1600200"/>
            <a:ext cx="256032" cy="256032"/>
          </a:xfrm>
          <a:prstGeom prst="ellipse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954512" y="1600200"/>
            <a:ext cx="256032" cy="256032"/>
          </a:xfrm>
          <a:prstGeom prst="ellipse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70000"/>
            <a:ext cx="105156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FF9900"/>
                </a:solidFill>
                <a:latin typeface="Calibri"/>
              </a:rPr>
              <a:t>Phase 01 — Local Development (Complete)      |      Phase 02 — AWS Cloud Deployment (Dev Proven)      |      Phase 03 — CI/CD Automation (Dev Proven)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5A636E"/>
                </a:solidFill>
                <a:latin typeface="Calibri"/>
              </a:rPr>
              <a:t>Institutional RFP responses today take days and require a compliance officer, portfolio analyst, and relationship manager to manually assemble data, narrative, and sign-off across disjointed systems.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86000"/>
            <a:ext cx="2724912" cy="214884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2724912" cy="64008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487168"/>
            <a:ext cx="23957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32F3E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3108960"/>
            <a:ext cx="2395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B00"/>
                </a:solidFill>
                <a:latin typeface="Calibri"/>
              </a:rPr>
              <a:t>Specialised AI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493008"/>
            <a:ext cx="239572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Quant, Qual, Compliance, Revisor, Reporting — each with one clear job, not one prompt doing everything.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9272" y="2286000"/>
            <a:ext cx="2724912" cy="214884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9272" y="2286000"/>
            <a:ext cx="2724912" cy="64008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3864" y="2487168"/>
            <a:ext cx="23957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32F3E"/>
                </a:solidFill>
                <a:latin typeface="Calibri"/>
              </a:rPr>
              <a:t>Self-correcting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3108960"/>
            <a:ext cx="2395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B00"/>
                </a:solidFill>
                <a:latin typeface="Calibri"/>
              </a:rPr>
              <a:t>Compliance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864" y="3493008"/>
            <a:ext cx="239572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Every draft is judged against the AMC's rubric and automatically revised until compliant, or safely escalated.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1344" y="2286000"/>
            <a:ext cx="2724912" cy="214884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344" y="2286000"/>
            <a:ext cx="2724912" cy="64008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487168"/>
            <a:ext cx="23957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32F3E"/>
                </a:solidFill>
                <a:latin typeface="Calibri"/>
              </a:rPr>
              <a:t>11.6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3108960"/>
            <a:ext cx="2395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B00"/>
                </a:solidFill>
                <a:latin typeface="Calibri"/>
              </a:rPr>
              <a:t>End-to-end on Bedrock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3493008"/>
            <a:ext cx="239572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vs. 5–10+ minutes on a free local model, and vs. 3.5–6.0 person-hours manually today.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43416" y="2286000"/>
            <a:ext cx="2724912" cy="214884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3416" y="2286000"/>
            <a:ext cx="2724912" cy="64008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08008" y="2487168"/>
            <a:ext cx="23957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32F3E"/>
                </a:solidFill>
                <a:latin typeface="Calibri"/>
              </a:rPr>
              <a:t>90–95%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08008" y="3108960"/>
            <a:ext cx="2395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B00"/>
                </a:solidFill>
                <a:latin typeface="Calibri"/>
              </a:rPr>
              <a:t>Reduction in staff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08008" y="3493008"/>
            <a:ext cx="239572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Illustrative ~$245,700/year saved at 50 RFPs/month, with a stronger audit trail than the manual process.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0916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2272B"/>
                </a:solidFill>
                <a:latin typeface="Calibri"/>
              </a:rPr>
              <a:t>Rather than one large-language-model prompt attempting everything at once — opaque, hard to govern, and prone to compliance mistakes — the system decomposes the work the way a real AMC team would, collaborating through a governed, auditable workflow graph with full traceability of every agent's reasoning and every data point's provenance.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Business Context &amp; 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32F3E"/>
                </a:solidFill>
                <a:latin typeface="Calibri"/>
              </a:rPr>
              <a:t>The Operational Bottleneck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300" b="1">
                <a:solidFill>
                  <a:srgbClr val="22272B"/>
                </a:solidFill>
                <a:latin typeface="Calibri"/>
              </a:rPr>
              <a:t>▪  Quantitative data</a:t>
            </a:r>
            <a:r>
              <a:rPr sz="1300" b="0">
                <a:solidFill>
                  <a:srgbClr val="5A636E"/>
                </a:solidFill>
                <a:latin typeface="Calibri"/>
              </a:rPr>
              <a:t>  — NAV, Alpha, Beta, Sharpe/Sortino, Std. Dev., R², trailing returns — lives in a data warehouse.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300" b="1">
                <a:solidFill>
                  <a:srgbClr val="22272B"/>
                </a:solidFill>
                <a:latin typeface="Calibri"/>
              </a:rPr>
              <a:t>▪  Qualitative narrative</a:t>
            </a:r>
            <a:r>
              <a:rPr sz="1300" b="0">
                <a:solidFill>
                  <a:srgbClr val="5A636E"/>
                </a:solidFill>
                <a:latin typeface="Calibri"/>
              </a:rPr>
              <a:t>  — Fund-manager commentary, investment-committee notes, macro outlook — unstructured, in a knowledge base.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300" b="1">
                <a:solidFill>
                  <a:srgbClr val="22272B"/>
                </a:solidFill>
                <a:latin typeface="Calibri"/>
              </a:rPr>
              <a:t>▪  Regulatory compliance</a:t>
            </a:r>
            <a:r>
              <a:rPr sz="1300" b="0">
                <a:solidFill>
                  <a:srgbClr val="5A636E"/>
                </a:solidFill>
                <a:latin typeface="Calibri"/>
              </a:rPr>
              <a:t>  — Every claim checked for disclosure rules — no return guarantees, mandatory disclaimers, hedged forward statements.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937760"/>
            <a:ext cx="5486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36E"/>
                </a:solidFill>
                <a:latin typeface="Calibri"/>
              </a:rPr>
              <a:t>Today, assembling these three inputs is manual and sequential. It does not scale with RFP volume, is inconsistent between analysts, and carries real regulatory risk under deadline pressure.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1887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32F3E"/>
                </a:solidFill>
                <a:latin typeface="Calibri"/>
              </a:rPr>
              <a:t>Why This Matters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60020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300" b="0">
                <a:solidFill>
                  <a:srgbClr val="22272B"/>
                </a:solidFill>
                <a:latin typeface="Calibri"/>
              </a:rPr>
              <a:t>▪  Institutional RFP volume and due-diligence complexity are increasing as investors demand more risk transparency.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300" b="0">
                <a:solidFill>
                  <a:srgbClr val="22272B"/>
                </a:solidFill>
                <a:latin typeface="Calibri"/>
              </a:rPr>
              <a:t>▪  Compliance requirements are tightening — raising the cost of any inconsistency between analysts.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300" b="0">
                <a:solidFill>
                  <a:srgbClr val="22272B"/>
                </a:solidFill>
                <a:latin typeface="Calibri"/>
              </a:rPr>
              <a:t>▪  RFP turnaround time is a competitive differentiator in institutional sales cycles.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300" b="0">
                <a:solidFill>
                  <a:srgbClr val="22272B"/>
                </a:solidFill>
                <a:latin typeface="Calibri"/>
              </a:rPr>
              <a:t>▪  Generative AI has matured — the real bottleneck is trustworthy orchestration and compliance governance, not language generation.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Proposed Solution —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04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234440"/>
            <a:ext cx="502920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234440"/>
            <a:ext cx="6537960" cy="566928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72B"/>
                </a:solidFill>
                <a:latin typeface="Calibri"/>
              </a:rPr>
              <a:t>Ingest an institutional RFP question or portfolio query in plain English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08660" y="1801368"/>
            <a:ext cx="0" cy="91440"/>
          </a:xfrm>
          <a:prstGeom prst="line">
            <a:avLst/>
          </a:prstGeom>
          <a:ln w="25400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57200" y="1892808"/>
            <a:ext cx="502920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892808"/>
            <a:ext cx="6537960" cy="566928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72B"/>
                </a:solidFill>
                <a:latin typeface="Calibri"/>
              </a:rPr>
              <a:t>Retrieve exact quant metrics + qual commentary in parallel, from governed data sources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" y="2459736"/>
            <a:ext cx="0" cy="91440"/>
          </a:xfrm>
          <a:prstGeom prst="line">
            <a:avLst/>
          </a:prstGeom>
          <a:ln w="25400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57200" y="2551176"/>
            <a:ext cx="502920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551176"/>
            <a:ext cx="6537960" cy="566928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72B"/>
                </a:solidFill>
                <a:latin typeface="Calibri"/>
              </a:rPr>
              <a:t>Synthesise a draft answer combining both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8660" y="3118104"/>
            <a:ext cx="0" cy="91440"/>
          </a:xfrm>
          <a:prstGeom prst="line">
            <a:avLst/>
          </a:prstGeom>
          <a:ln w="25400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57200" y="3209544"/>
            <a:ext cx="502920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3209544"/>
            <a:ext cx="6537960" cy="566928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72B"/>
                </a:solidFill>
                <a:latin typeface="Calibri"/>
              </a:rPr>
              <a:t>Judge the draft with an automated “LLM-as-a-Judge” compliance agent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" y="3776472"/>
            <a:ext cx="0" cy="91440"/>
          </a:xfrm>
          <a:prstGeom prst="line">
            <a:avLst/>
          </a:prstGeom>
          <a:ln w="25400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57200" y="3867912"/>
            <a:ext cx="502920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867912"/>
            <a:ext cx="6537960" cy="566928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72B"/>
                </a:solidFill>
                <a:latin typeface="Calibri"/>
              </a:rPr>
              <a:t>Self-correct automatically on a REJECTED verdict — revise, then re-check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8660" y="4434840"/>
            <a:ext cx="0" cy="91440"/>
          </a:xfrm>
          <a:prstGeom prst="line">
            <a:avLst/>
          </a:prstGeom>
          <a:ln w="25400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57200" y="4526280"/>
            <a:ext cx="502920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526280"/>
            <a:ext cx="6537960" cy="566928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72B"/>
                </a:solidFill>
                <a:latin typeface="Calibri"/>
              </a:rPr>
              <a:t>Escalate safely to a fixed holding message if compliance can't be reached in budget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8660" y="5093208"/>
            <a:ext cx="0" cy="91440"/>
          </a:xfrm>
          <a:prstGeom prst="line">
            <a:avLst/>
          </a:prstGeom>
          <a:ln w="25400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457200" y="5184648"/>
            <a:ext cx="502920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5184648"/>
            <a:ext cx="6537960" cy="566928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72B"/>
                </a:solidFill>
                <a:latin typeface="Calibri"/>
              </a:rPr>
              <a:t>Deliver a polished, client-ready report via CLI or REST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1234440"/>
            <a:ext cx="3749039" cy="5074920"/>
          </a:xfrm>
          <a:prstGeom prst="roundRect">
            <a:avLst>
              <a:gd name="adj" fmla="val 3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141732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9900"/>
                </a:solidFill>
                <a:latin typeface="Calibri"/>
              </a:rPr>
              <a:t>Not a Simple Chatbot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1965960"/>
            <a:ext cx="3291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▪  Numbers are tool-retrieved and real — never hallucinated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▪  A systematic, rubric-based compliance check on every draft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▪  The ability to iteratively fix a flagged issue automatically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▪  A full audit trail of exactly how each answer was produced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Why an Agentic AI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36E"/>
                </a:solidFill>
                <a:latin typeface="Calibri"/>
              </a:rPr>
              <a:t>One or more agents autonomously plan, use tools, and take multi-step action toward a goal — as opposed to a single prompt-and-response LLM call.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66544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Task Decomposition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42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Mirrors real AMC work: a Quant agent only pulls numbers, a Qual agent only retrieves narrative, a Compliance agent only judges — short, unambiguous, testable instructions per agent.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33672" y="1920240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3672" y="1920240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2066544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Grounding Eliminates Hallucination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2542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Every quantitative figure is retrieved via a tool call, never recalled from model memory. Agents state “no data found” rather than estimate.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1920240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920240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2066544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Self-Correction, First-Class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542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Compliance re-checking is built into the graph itself, not bolted on — a REJECTED verdict automatically triggers a bounded revise-and-recheck cycle.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233672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233672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379976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Deterministic, Auditable Decisions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855464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A structured-output schema (APPROVED/REJECTED) lets the surrounding code route deterministically, instead of parsing an opinion out of prose.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4233672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3672" y="4233672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4379976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Full Observability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272" y="4855464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Lifecycle hooks emit structured, correlated logs for every agent action and tool call — a complete audit trail.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10144" y="4233672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10144" y="4233672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4379976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Never Silently Fails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4855464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A hard safety net (bounded attempts + fixed escalation message) guarantees unapproved content can never reach a client.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System Architecture — The Five-Agent 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A636E"/>
                </a:solidFill>
                <a:latin typeface="Calibri"/>
              </a:rPr>
              <a:t>Two entry-point agents run in parallel, feeding a compliance judge that can loop back through a revisor before final synthesis.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3200400" cy="86868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Quantitative Analyst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quant_data_pull  —  get_fund_performance()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554480"/>
            <a:ext cx="3200400" cy="86868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Qualitative Strategy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qual_narrative_pull  —  search_fund_commentary() (RAG)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2880360"/>
            <a:ext cx="3657600" cy="960120"/>
          </a:xfrm>
          <a:prstGeom prst="roundRect">
            <a:avLst>
              <a:gd name="adj" fmla="val 8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Chief Compliance Officer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compliance_check  —  LLM-as-a-Judge  →  APPROVED / REJECTED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434840"/>
            <a:ext cx="3291840" cy="868680"/>
          </a:xfrm>
          <a:prstGeom prst="roundRect">
            <a:avLst>
              <a:gd name="adj" fmla="val 8000"/>
            </a:avLst>
          </a:prstGeom>
          <a:solidFill>
            <a:srgbClr val="E8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Revisor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revise_draft  —  fixes flagged issues, preserves every number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4434840"/>
            <a:ext cx="3794760" cy="86868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Client Reporting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final_synthesis  —  approved report OR fixed escalation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423160"/>
            <a:ext cx="2194560" cy="937260"/>
          </a:xfrm>
          <a:prstGeom prst="line">
            <a:avLst/>
          </a:prstGeom>
          <a:ln w="22225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7909560" y="2423160"/>
            <a:ext cx="2194560" cy="937260"/>
          </a:xfrm>
          <a:prstGeom prst="line">
            <a:avLst/>
          </a:prstGeom>
          <a:ln w="22225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560320" y="3840480"/>
            <a:ext cx="3520440" cy="594360"/>
          </a:xfrm>
          <a:prstGeom prst="line">
            <a:avLst/>
          </a:prstGeom>
          <a:ln w="25400">
            <a:solidFill>
              <a:srgbClr val="B02A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80760" y="3840480"/>
            <a:ext cx="3771899" cy="59436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206240" y="4160520"/>
            <a:ext cx="320040" cy="708659"/>
          </a:xfrm>
          <a:prstGeom prst="line">
            <a:avLst/>
          </a:prstGeom>
          <a:ln w="22225">
            <a:solidFill>
              <a:srgbClr val="E87B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103120" y="3913632"/>
            <a:ext cx="18288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B02A2A"/>
                </a:solidFill>
                <a:latin typeface="Calibri"/>
              </a:rPr>
              <a:t>REJECTED (attempts &lt; max)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913632"/>
            <a:ext cx="2194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2E7D32"/>
                </a:solidFill>
                <a:latin typeface="Calibri"/>
              </a:rPr>
              <a:t>APPROVED  or  attempts exhausted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187952"/>
            <a:ext cx="2743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E87B00"/>
                </a:solidFill>
                <a:latin typeface="Calibri"/>
              </a:rPr>
              <a:t>re-check after revision (loop-back edge)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623560"/>
            <a:ext cx="11292840" cy="77724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2272B"/>
                </a:solidFill>
                <a:latin typeface="Calibri"/>
              </a:rPr>
              <a:t>All edges into revise_draft / final_synthesis share the SAME condition function — a node becomes ready only once compliance_check has actually run. Two safety layers: MAX_COMPLIANCE_ATTEMPTS (default 3, graceful) and a hard node-execution ceiling that would fail the whole graph if the graceful layer never resolves.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5.2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Self-Correcting Compliance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F3E"/>
                </a:solidFill>
                <a:latin typeface="Calibri"/>
              </a:rPr>
              <a:t>The Governance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3108960" cy="68580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Draft Answer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First pass or Revisor's rewrite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88920"/>
            <a:ext cx="3108960" cy="822960"/>
          </a:xfrm>
          <a:prstGeom prst="roundRect">
            <a:avLst>
              <a:gd name="adj" fmla="val 8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Compliance Judge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Checked against 5-rule rubric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23360"/>
            <a:ext cx="1463040" cy="68580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APPROVED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E6EEF6"/>
                </a:solidFill>
                <a:latin typeface="Calibri"/>
              </a:rPr>
              <a:t>→ final report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4023360"/>
            <a:ext cx="1463040" cy="685800"/>
          </a:xfrm>
          <a:prstGeom prst="roundRect">
            <a:avLst>
              <a:gd name="adj" fmla="val 8000"/>
            </a:avLst>
          </a:prstGeom>
          <a:solidFill>
            <a:srgbClr val="B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REJECTED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E6EEF6"/>
                </a:solidFill>
                <a:latin typeface="Calibri"/>
              </a:rPr>
              <a:t>→ revise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074920"/>
            <a:ext cx="3108960" cy="685800"/>
          </a:xfrm>
          <a:prstGeom prst="roundRect">
            <a:avLst>
              <a:gd name="adj" fmla="val 8000"/>
            </a:avLst>
          </a:prstGeom>
          <a:solidFill>
            <a:srgbClr val="E8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Revisor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Fixes flags only; numbers preserved exactly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11680" y="2377440"/>
            <a:ext cx="0" cy="411480"/>
          </a:xfrm>
          <a:prstGeom prst="line">
            <a:avLst/>
          </a:prstGeom>
          <a:ln w="19050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188720" y="3611879"/>
            <a:ext cx="822960" cy="411481"/>
          </a:xfrm>
          <a:prstGeom prst="line">
            <a:avLst/>
          </a:prstGeom>
          <a:ln w="190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11680" y="3611879"/>
            <a:ext cx="822959" cy="411481"/>
          </a:xfrm>
          <a:prstGeom prst="line">
            <a:avLst/>
          </a:prstGeom>
          <a:ln w="19050">
            <a:solidFill>
              <a:srgbClr val="B02A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011680" y="4709160"/>
            <a:ext cx="822959" cy="365760"/>
          </a:xfrm>
          <a:prstGeom prst="line">
            <a:avLst/>
          </a:prstGeom>
          <a:ln w="19050">
            <a:solidFill>
              <a:srgbClr val="E87B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37160" y="5417820"/>
            <a:ext cx="320040" cy="0"/>
          </a:xfrm>
          <a:prstGeom prst="line">
            <a:avLst/>
          </a:prstGeom>
          <a:ln w="19050">
            <a:solidFill>
              <a:srgbClr val="E87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37160" y="3200400"/>
            <a:ext cx="0" cy="2217420"/>
          </a:xfrm>
          <a:prstGeom prst="line">
            <a:avLst/>
          </a:prstGeom>
          <a:ln w="19050">
            <a:solidFill>
              <a:srgbClr val="E87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7160" y="3200400"/>
            <a:ext cx="320040" cy="0"/>
          </a:xfrm>
          <a:prstGeom prst="line">
            <a:avLst/>
          </a:prstGeom>
          <a:ln w="19050">
            <a:solidFill>
              <a:srgbClr val="E87B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703320" y="502920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E87B00"/>
                </a:solidFill>
                <a:latin typeface="Calibri"/>
              </a:rPr>
              <a:t>capped at</a:t>
            </a:r>
          </a:p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E87B00"/>
                </a:solidFill>
                <a:latin typeface="Calibri"/>
              </a:rPr>
              <a:t>MAX_COMPLIANCE_</a:t>
            </a:r>
          </a:p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E87B00"/>
                </a:solidFill>
                <a:latin typeface="Calibri"/>
              </a:rPr>
              <a:t>ATTEMPTS (default 3)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691640"/>
            <a:ext cx="50292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1828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F3E"/>
                </a:solidFill>
                <a:latin typeface="Calibri"/>
              </a:rPr>
              <a:t>The Five-Rule Compliance Rubric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33172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22272B"/>
                </a:solidFill>
                <a:latin typeface="Calibri"/>
              </a:rPr>
              <a:t>▪  No guarantees of future returns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22272B"/>
                </a:solidFill>
                <a:latin typeface="Calibri"/>
              </a:rPr>
              <a:t>▪  Mandatory past-performance disclaimer whenever performance figures are quoted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22272B"/>
                </a:solidFill>
                <a:latin typeface="Calibri"/>
              </a:rPr>
              <a:t>▪  Promissory language is flagged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22272B"/>
                </a:solidFill>
                <a:latin typeface="Calibri"/>
              </a:rPr>
              <a:t>▪  Forward-looking statements are properly hedged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22272B"/>
                </a:solidFill>
                <a:latin typeface="Calibri"/>
              </a:rPr>
              <a:t>▪  Balanced risk contextualisation for higher-risk funds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989320"/>
            <a:ext cx="11292840" cy="457200"/>
          </a:xfrm>
          <a:prstGeom prst="roundRect">
            <a:avLst>
              <a:gd name="adj" fmla="val 15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Fail-safe by construction: exactly two outcomes ever reach a client — an approved report, or the fixed escalation message. Never blended, never a silent third path.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Why the AWS Strands Agents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A636E"/>
                </a:solidFill>
                <a:latin typeface="Calibri"/>
              </a:rPr>
              <a:t>Open-source, model-driven, built by AWS for production-grade agentic systems — selected for five concrete reasons.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83080"/>
            <a:ext cx="11292840" cy="896112"/>
          </a:xfrm>
          <a:prstGeom prst="roundRect">
            <a:avLst>
              <a:gd name="adj" fmla="val 10000"/>
            </a:avLst>
          </a:prstGeom>
          <a:solidFill>
            <a:srgbClr val="F2F3F5"/>
          </a:solidFill>
          <a:ln w="9525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03504" y="1956816"/>
            <a:ext cx="548640" cy="54864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874519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F3E"/>
                </a:solidFill>
                <a:latin typeface="Calibri"/>
              </a:rPr>
              <a:t>Native Multi-Agent Graph 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856231"/>
            <a:ext cx="6720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GraphBuilder supports cyclic graphs with conditional edges, execution ordering, and built-in safety limits (timeout, max node executions) — exactly the primitive the compliance loop needs.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52344"/>
            <a:ext cx="1129284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3504" y="2926079"/>
            <a:ext cx="548640" cy="54864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43784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F3E"/>
                </a:solidFill>
                <a:latin typeface="Calibri"/>
              </a:rPr>
              <a:t>Reliable Structured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825496"/>
            <a:ext cx="6720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structured_output_model (Pydantic) turns the Compliance agent's verdict into a validated, typed object the graph can route on deterministically — not prose to parse.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21608"/>
            <a:ext cx="11292840" cy="896112"/>
          </a:xfrm>
          <a:prstGeom prst="roundRect">
            <a:avLst>
              <a:gd name="adj" fmla="val 10000"/>
            </a:avLst>
          </a:prstGeom>
          <a:solidFill>
            <a:srgbClr val="F2F3F5"/>
          </a:solidFill>
          <a:ln w="9525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03504" y="3895344"/>
            <a:ext cx="548640" cy="54864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813048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F3E"/>
                </a:solidFill>
                <a:latin typeface="Calibri"/>
              </a:rPr>
              <a:t>Model-Agnostic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794760"/>
            <a:ext cx="6720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One factory function is the only place a concrete model class is referenced — Ollama (free, local) or AWS Bedrock, chosen by configuration, zero agent-code changes.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690872"/>
            <a:ext cx="1129284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3504" y="4864608"/>
            <a:ext cx="548640" cy="54864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782312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F3E"/>
                </a:solidFill>
                <a:latin typeface="Calibri"/>
              </a:rPr>
              <a:t>Built-In Observability Hooks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4764024"/>
            <a:ext cx="6720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Lifecycle hooks (before/after agent invocation, before/after tool call) emit structured, correlated logs with no logging logic inside any agent's prompt.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660136"/>
            <a:ext cx="11292840" cy="896112"/>
          </a:xfrm>
          <a:prstGeom prst="roundRect">
            <a:avLst>
              <a:gd name="adj" fmla="val 10000"/>
            </a:avLst>
          </a:prstGeom>
          <a:solidFill>
            <a:srgbClr val="F2F3F5"/>
          </a:solidFill>
          <a:ln w="9525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504" y="5833872"/>
            <a:ext cx="548640" cy="54864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751576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F3E"/>
                </a:solidFill>
                <a:latin typeface="Calibri"/>
              </a:rPr>
              <a:t>Production-Ready, AWS-Native Path to 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5733288"/>
            <a:ext cx="6720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Integrates natively with Amazon Bedrock and deploys onto standard AWS compute with no re-platforming — proven directly in Phase 02 on Amazon Bedrock AgentCore.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13 · PHASE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Cloud Architecture — AWS 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70432"/>
            <a:ext cx="2788920" cy="566928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Client Apps / Browser UI / REST API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boto3 invoke_agent_runtime (SigV4)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98280" y="1170432"/>
            <a:ext cx="2788920" cy="502920"/>
          </a:xfrm>
          <a:prstGeom prst="roundRect">
            <a:avLst>
              <a:gd name="adj" fmla="val 8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GitHub Actions CI/CD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OIDC — short-lived AWS credentials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0" y="1874519"/>
            <a:ext cx="2788920" cy="502920"/>
          </a:xfrm>
          <a:prstGeom prst="roundRect">
            <a:avLst>
              <a:gd name="adj" fmla="val 8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Amazon ECR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Container images (build once, promote)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783080"/>
            <a:ext cx="4709160" cy="1051560"/>
          </a:xfrm>
          <a:prstGeom prst="roundRect">
            <a:avLst>
              <a:gd name="adj" fmla="val 8000"/>
            </a:avLst>
          </a:prstGeom>
          <a:solidFill>
            <a:srgbClr val="E8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Amazon Bedrock AgentCore Runtime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5-agent graph  ·  Public network mode  ·  IAM (SigV4) secured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1453896"/>
            <a:ext cx="685800" cy="854964"/>
          </a:xfrm>
          <a:prstGeom prst="line">
            <a:avLst/>
          </a:prstGeom>
          <a:ln w="22225">
            <a:solidFill>
              <a:srgbClr val="146E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188720" y="1737360"/>
            <a:ext cx="26517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46EB4"/>
                </a:solidFill>
                <a:latin typeface="Calibri"/>
              </a:rPr>
              <a:t>SigV4 / IAM auth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80" y="1421892"/>
            <a:ext cx="0" cy="704087"/>
          </a:xfrm>
          <a:prstGeom prst="line">
            <a:avLst/>
          </a:prstGeom>
          <a:ln w="19050">
            <a:solidFill>
              <a:srgbClr val="2E41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8503920" y="2125979"/>
            <a:ext cx="594360" cy="182881"/>
          </a:xfrm>
          <a:prstGeom prst="line">
            <a:avLst/>
          </a:prstGeom>
          <a:ln w="22225">
            <a:solidFill>
              <a:srgbClr val="2E41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60920" y="2148840"/>
            <a:ext cx="16916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2E4157"/>
                </a:solidFill>
                <a:latin typeface="Calibri"/>
              </a:rPr>
              <a:t>pull image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3291840"/>
            <a:ext cx="2697480" cy="82296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Amazon DynamoDB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E6EEF6"/>
                </a:solidFill>
                <a:latin typeface="Calibri"/>
              </a:rPr>
              <a:t>Quantitative fund metrics
(pay-per-request)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29000" y="3291840"/>
            <a:ext cx="5166360" cy="82296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OpenSearch Serverless / Amazon S3 Vectors
+ Amazon Bedrock Knowledge Base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E6EEF6"/>
                </a:solidFill>
                <a:latin typeface="Calibri"/>
              </a:rPr>
              <a:t>RAG — qualitative fund-manager commentary retrieval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3291840"/>
            <a:ext cx="2880360" cy="82296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Amazon Bedrock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E6EEF6"/>
                </a:solidFill>
                <a:latin typeface="Calibri"/>
              </a:rPr>
              <a:t>Foundation models — Claude 3.5
Sonnet / Amazon Nova Lite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668780" y="2834639"/>
            <a:ext cx="4480560" cy="457201"/>
          </a:xfrm>
          <a:prstGeom prst="line">
            <a:avLst/>
          </a:prstGeom>
          <a:ln w="19050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012180" y="2834639"/>
            <a:ext cx="137160" cy="457201"/>
          </a:xfrm>
          <a:prstGeom prst="line">
            <a:avLst/>
          </a:prstGeom>
          <a:ln w="19050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49340" y="2834639"/>
            <a:ext cx="4297679" cy="457201"/>
          </a:xfrm>
          <a:prstGeom prst="line">
            <a:avLst/>
          </a:prstGeom>
          <a:ln w="19050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0040" y="4526280"/>
            <a:ext cx="1737360" cy="73152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S3 Docs Bucket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Source commentary docs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4526280"/>
            <a:ext cx="1691640" cy="73152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SQS Queue + DLQ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Batches change events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0" y="4526280"/>
            <a:ext cx="1965960" cy="73152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AWS Lambda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Triggers StartIngestionJob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057400" y="4892040"/>
            <a:ext cx="137160" cy="0"/>
          </a:xfrm>
          <a:prstGeom prst="line">
            <a:avLst/>
          </a:prstGeom>
          <a:ln w="190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86200" y="4892040"/>
            <a:ext cx="137160" cy="0"/>
          </a:xfrm>
          <a:prstGeom prst="line">
            <a:avLst/>
          </a:prstGeom>
          <a:ln w="190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4526280" y="4114800"/>
            <a:ext cx="480060" cy="411480"/>
          </a:xfrm>
          <a:prstGeom prst="line">
            <a:avLst/>
          </a:prstGeom>
          <a:ln w="1905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0040" y="5303520"/>
            <a:ext cx="384048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7D32"/>
                </a:solidFill>
                <a:latin typeface="Calibri"/>
              </a:rPr>
              <a:t>auto-sync ingestion (batched, async)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4526280"/>
            <a:ext cx="2514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2E41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E4157"/>
                </a:solidFill>
                <a:latin typeface="Calibri"/>
              </a:rPr>
              <a:t>AgentCore Gateway + Lambda Targets</a:t>
            </a:r>
          </a:p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E4157"/>
                </a:solidFill>
                <a:latin typeface="Calibri"/>
              </a:rPr>
              <a:t>(provisioned, not yet wired in)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52628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2E41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E4157"/>
                </a:solidFill>
                <a:latin typeface="Calibri"/>
              </a:rPr>
              <a:t>AgentCore Memory</a:t>
            </a:r>
          </a:p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E4157"/>
                </a:solidFill>
                <a:latin typeface="Calibri"/>
              </a:rPr>
              <a:t>(provisioned, not yet wired in)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" y="5623560"/>
            <a:ext cx="11567160" cy="566928"/>
          </a:xfrm>
          <a:prstGeom prst="roundRect">
            <a:avLst>
              <a:gd name="adj" fmla="val 12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Amazon CloudWatch — log groups, dashboard, error/throttle alarms      |      AWS IAM — one least-privilege role per component (Runtime, Knowledge Base, Lambda, CI/CD)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309360"/>
            <a:ext cx="11567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6E"/>
                </a:solidFill>
                <a:latin typeface="Calibri"/>
              </a:rPr>
              <a:t>Every resource is a reusable Terraform module, instantiated per environment (Dev / Staging / Prod) from identical code — only configuration differs.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14 · PHASE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CI/CD Automation on GitHub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5394960" cy="457200"/>
          </a:xfrm>
          <a:prstGeom prst="round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pr-validate.yml  —  AUTOMATIC on every pull request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10512"/>
            <a:ext cx="539496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2272B"/>
                </a:solidFill>
                <a:latin typeface="Calibri"/>
              </a:rPr>
              <a:t>Pull request opened / updated against main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54680" y="2377440"/>
            <a:ext cx="0" cy="146304"/>
          </a:xfrm>
          <a:prstGeom prst="line">
            <a:avLst/>
          </a:prstGeom>
          <a:ln w="22225">
            <a:solidFill>
              <a:srgbClr val="146E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7200" y="2523744"/>
            <a:ext cx="539496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2272B"/>
                </a:solidFill>
                <a:latin typeface="Calibri"/>
              </a:rPr>
              <a:t>Ruff / mypy + fast pytest unit suite (app changes)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54680" y="3090672"/>
            <a:ext cx="0" cy="146304"/>
          </a:xfrm>
          <a:prstGeom prst="line">
            <a:avLst/>
          </a:prstGeom>
          <a:ln w="22225">
            <a:solidFill>
              <a:srgbClr val="146E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57200" y="3236976"/>
            <a:ext cx="539496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2272B"/>
                </a:solidFill>
                <a:latin typeface="Calibri"/>
              </a:rPr>
              <a:t>arm64 Docker build sanity check (cache-only, never pushes)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54680" y="3803904"/>
            <a:ext cx="0" cy="146304"/>
          </a:xfrm>
          <a:prstGeom prst="line">
            <a:avLst/>
          </a:prstGeom>
          <a:ln w="22225">
            <a:solidFill>
              <a:srgbClr val="146E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57200" y="3950208"/>
            <a:ext cx="539496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2272B"/>
                </a:solidFill>
                <a:latin typeface="Calibri"/>
              </a:rPr>
              <a:t>terraform fmt / validate + plan via READ-ONLY OIDC role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54680" y="4517136"/>
            <a:ext cx="0" cy="146304"/>
          </a:xfrm>
          <a:prstGeom prst="line">
            <a:avLst/>
          </a:prstGeom>
          <a:ln w="22225">
            <a:solidFill>
              <a:srgbClr val="146E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" y="4663440"/>
            <a:ext cx="539496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2272B"/>
                </a:solidFill>
                <a:latin typeface="Calibri"/>
              </a:rPr>
              <a:t>Plan posted as a PR comment — zero AWS mutation, ever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188720"/>
            <a:ext cx="5440680" cy="457200"/>
          </a:xfrm>
          <a:prstGeom prst="roundRect">
            <a:avLst/>
          </a:prstGeom>
          <a:solidFill>
            <a:srgbClr val="E8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deploy.yml  —  MANUAL, workflow_dispatch only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10512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72B"/>
                </a:solidFill>
                <a:latin typeface="Calibri"/>
              </a:rPr>
              <a:t>Operator dispatches: environment = dev / staging / prod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961120" y="2377440"/>
            <a:ext cx="0" cy="146304"/>
          </a:xfrm>
          <a:prstGeom prst="line">
            <a:avLst/>
          </a:prstGeom>
          <a:ln w="22225">
            <a:solidFill>
              <a:srgbClr val="E87B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63640" y="2523744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72B"/>
                </a:solidFill>
                <a:latin typeface="Calibri"/>
              </a:rPr>
              <a:t>ensure-ecr — idempotent, creates the registry if missing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61120" y="3090672"/>
            <a:ext cx="0" cy="146304"/>
          </a:xfrm>
          <a:prstGeom prst="line">
            <a:avLst/>
          </a:prstGeom>
          <a:ln w="22225">
            <a:solidFill>
              <a:srgbClr val="E87B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63640" y="3236976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72B"/>
                </a:solidFill>
                <a:latin typeface="Calibri"/>
              </a:rPr>
              <a:t>build-and-push (dev, from source) OR promote (crane copy, byte-identical image → staging/prod)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61120" y="3803904"/>
            <a:ext cx="0" cy="146304"/>
          </a:xfrm>
          <a:prstGeom prst="line">
            <a:avLst/>
          </a:prstGeom>
          <a:ln w="22225">
            <a:solidFill>
              <a:srgbClr val="E87B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263640" y="3950208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72B"/>
                </a:solidFill>
                <a:latin typeface="Calibri"/>
              </a:rPr>
              <a:t>terraform-apply — environment-scoped OIDC deploy role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61120" y="4517136"/>
            <a:ext cx="0" cy="146304"/>
          </a:xfrm>
          <a:prstGeom prst="line">
            <a:avLst/>
          </a:prstGeom>
          <a:ln w="22225">
            <a:solidFill>
              <a:srgbClr val="E87B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263640" y="4663440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72B"/>
                </a:solidFill>
                <a:latin typeface="Calibri"/>
              </a:rPr>
              <a:t>GitHub Environment: deployment-branch restricted to main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406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OIDC federated auth — no long-lived AWS keys ever stored in GitHub. One shared read-only plan role (repo-level) for PRs; one write-scoped deploy-&lt;env&gt; role per environment, trusted only for that environment's own workflow_dispatch job — proven end-to-end on Dev, incl. a cold-start redeploy from zero resources.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Technology Stack &amp; Environment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F3E"/>
                </a:solidFill>
                <a:latin typeface="Calibri"/>
              </a:rPr>
              <a:t>Technology Stack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36192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192"/>
                <a:gridCol w="3950208"/>
              </a:tblGrid>
              <a:tr h="49784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Agent framework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AWS Strands Agents (v1.47)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Language / packaging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Python 3.12+, managed with uv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LLM — dev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Ollama (qwen2.5:7b-instruct) or AWS Bedrock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LLM — staging/prod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AWS Bedrock (always — governance requirement)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Quant data store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SQLite (dev) → Amazon DynamoDB (staging/prod)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Qual data store (RAG)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ChromaDB (dev) → OpenSearch Serverless / S3 Vectors + Bedrock KB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API layer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FastAPI — /health, /health/ready, POST /api/v1/rfp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Observability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structlog JSON logs, trace/request-ID correlation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63640" y="114300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F3E"/>
                </a:solidFill>
                <a:latin typeface="Calibri"/>
              </a:rPr>
              <a:t>Environment Strategy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36192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536192"/>
            <a:ext cx="82296" cy="12344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19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32F3E"/>
                </a:solidFill>
                <a:latin typeface="Calibri"/>
              </a:rPr>
              <a:t>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9339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100% local &amp; free by default — Ollama, SQLite, on-disk ChromaDB. Opt-in switch to real AWS Bedrock per-run for faster iteration.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953512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953512"/>
            <a:ext cx="82296" cy="1234440"/>
          </a:xfrm>
          <a:prstGeom prst="rect">
            <a:avLst/>
          </a:prstGeom>
          <a:solidFill>
            <a:srgbClr val="E8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0632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32F3E"/>
                </a:solidFill>
                <a:latin typeface="Calibri"/>
              </a:rPr>
              <a:t>STAGING / 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410712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Always AWS Bedrock for the LLM (governance requirement). Data layer promoted to DynamoDB + OpenSearch Serverless / Bedrock Knowledge Base.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43484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F3E"/>
                </a:solidFill>
                <a:latin typeface="Calibri"/>
              </a:rPr>
              <a:t>API Surface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800600"/>
            <a:ext cx="5440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>
                <a:solidFill>
                  <a:srgbClr val="22272B"/>
                </a:solidFill>
                <a:latin typeface="Calibri"/>
              </a:rPr>
              <a:t>▪  POST /api/v1/rfp</a:t>
            </a:r>
            <a:r>
              <a:rPr sz="1050" b="0">
                <a:solidFill>
                  <a:srgbClr val="5A636E"/>
                </a:solidFill>
                <a:latin typeface="Calibri"/>
              </a:rPr>
              <a:t>  — submit a question, get a structured outcome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>
                <a:solidFill>
                  <a:srgbClr val="22272B"/>
                </a:solidFill>
                <a:latin typeface="Calibri"/>
              </a:rPr>
              <a:t>▪  GET /health</a:t>
            </a:r>
            <a:r>
              <a:rPr sz="1050" b="0">
                <a:solidFill>
                  <a:srgbClr val="5A636E"/>
                </a:solidFill>
                <a:latin typeface="Calibri"/>
              </a:rPr>
              <a:t>  — liveness check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>
                <a:solidFill>
                  <a:srgbClr val="22272B"/>
                </a:solidFill>
                <a:latin typeface="Calibri"/>
              </a:rPr>
              <a:t>▪  GET /health/ready</a:t>
            </a:r>
            <a:r>
              <a:rPr sz="1050" b="0">
                <a:solidFill>
                  <a:srgbClr val="5A636E"/>
                </a:solidFill>
                <a:latin typeface="Calibri"/>
              </a:rPr>
              <a:t>  — model provider + data-store readiness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Sample End-to-End Execution —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47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22272B"/>
                </a:solidFill>
                <a:latin typeface="Calibri"/>
              </a:rPr>
              <a:t>Real, unedited trace against AWS Bedrock (Claude 3.5 Sonnet): “Please provide the current risk metrics for the Fixed Income Core Bond Fund (INC2) and its current macroeconomic strategy.”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874519"/>
          <a:ext cx="7452359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618"/>
                <a:gridCol w="1341424"/>
                <a:gridCol w="4844034"/>
                <a:gridCol w="894283"/>
              </a:tblGrid>
              <a:tr h="541020"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What Happened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quant_data_pull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Returned NAV, Alpha, Beta, Sharpe, Std. Dev., Sortino, R², 1Y/3Y returns; correctly declined the macro-strategy portion.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3.50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qual_narrative_pull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Retrieved &amp; synthesised duration-risk strategy from manager commentary — ran in parallel with Step 1.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4.81 s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compliance_check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Synthesised draft, added mandatory disclaimer, hedged forward statement — APPROVED on first attempt.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4.71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revise_draft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Not triggered — first-pass draft was already compliant.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final_synthesis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Assembled the final three-section client report.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2.12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092440" y="1874519"/>
            <a:ext cx="3611880" cy="73152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938527"/>
            <a:ext cx="3200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9900"/>
                </a:solidFill>
                <a:latin typeface="Calibri"/>
              </a:rPr>
              <a:t>11.64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313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8D3DE"/>
                </a:solidFill>
                <a:latin typeface="Calibri"/>
              </a:rPr>
              <a:t>Total end-to-end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715768"/>
            <a:ext cx="3611880" cy="73152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779775"/>
            <a:ext cx="3200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9900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15467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8D3DE"/>
                </a:solidFill>
                <a:latin typeface="Calibri"/>
              </a:rPr>
              <a:t>Compliance attempts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557015"/>
            <a:ext cx="3611880" cy="73152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3621023"/>
            <a:ext cx="3200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9900"/>
                </a:solidFill>
                <a:latin typeface="Calibri"/>
              </a:rPr>
              <a:t>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995927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8D3DE"/>
                </a:solidFill>
                <a:latin typeface="Calibri"/>
              </a:rPr>
              <a:t>Escalated to manual review?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4398264"/>
            <a:ext cx="3611880" cy="73152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4462272"/>
            <a:ext cx="3200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9900"/>
                </a:solidFill>
                <a:latin typeface="Calibri"/>
              </a:rPr>
              <a:t>Zero fabrication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837175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8D3DE"/>
                </a:solidFill>
                <a:latin typeface="Calibri"/>
              </a:rPr>
              <a:t>Every figure traced to governed source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2F3E"/>
                </a:solidFill>
                <a:latin typeface="Calibri"/>
              </a:rPr>
              <a:t>For comparison, the equivalent query on a free, local, CPU-only model has taken 5–10+ minutes in prior testing — the orchestration logic is identical; only the model provider changes. This is the measured basis for the cost/time analysis that follows.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Business Value — Cost &amp; Human Work-Hours Savings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A636E"/>
                </a:solidFill>
                <a:latin typeface="Calibri"/>
              </a:rPr>
              <a:t>Illustrative ROI model on reasonable assumptions — a decision-support framework, not an audited projection.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F3E"/>
                </a:solidFill>
                <a:latin typeface="Calibri"/>
              </a:rPr>
              <a:t>Per-Request Time (person-hours)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2272B"/>
                </a:solidFill>
                <a:latin typeface="Calibri"/>
              </a:rPr>
              <a:t>Manual (today)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2057400"/>
            <a:ext cx="5212080" cy="365760"/>
          </a:xfrm>
          <a:prstGeom prst="roundRect">
            <a:avLst>
              <a:gd name="adj" fmla="val 25000"/>
            </a:avLst>
          </a:prstGeom>
          <a:solidFill>
            <a:srgbClr val="B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2075688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~4.75 hrs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0604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2272B"/>
                </a:solidFill>
                <a:latin typeface="Calibri"/>
              </a:rPr>
              <a:t>Automated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0" y="2606040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2624328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2272B"/>
                </a:solidFill>
                <a:latin typeface="Calibri"/>
              </a:rPr>
              <a:t>~0.2 hrs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0040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7B00"/>
                </a:solidFill>
                <a:latin typeface="Calibri"/>
              </a:rPr>
              <a:t>≈ 90–95% reduction in specialised staff time per RFP request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379476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07008"/>
                <a:gridCol w="1536192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Calibri"/>
                        </a:rPr>
                        <a:t>Manual Activity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Gather quantitative metrics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0.5 – 1.0 hrs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Portfolio / Data Analyst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Retrieve &amp; read qualitative commentary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0.5 – 1.0 hrs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Portfolio Analyst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Draft the response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1.0 – 1.5 hrs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Relationship Mgr / Analyst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Compliance review &amp; edits (1–2 cycles)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1.0 – 2.0 hrs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Compliance Officer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Final polish &amp; sign-off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0.5 hrs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Relationship Manager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63640" y="160020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F3E"/>
                </a:solidFill>
                <a:latin typeface="Calibri"/>
              </a:rPr>
              <a:t>Illustrative Annualised Impact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263640" y="1965960"/>
          <a:ext cx="54406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2374"/>
                <a:gridCol w="2448306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Assumed RFP volume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50 / month  (600 / year)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Blended loaded staff cost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$90 / hour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Manual — hrs / request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~4.75 hrs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Automated — hrs / request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~0.2 hrs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Hours saved / year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~2,730 hours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263640" y="4480560"/>
            <a:ext cx="5440680" cy="1691640"/>
          </a:xfrm>
          <a:prstGeom prst="roundRect">
            <a:avLst>
              <a:gd name="adj" fmla="val 6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61772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FF9900"/>
                </a:solidFill>
                <a:latin typeface="Calibri"/>
              </a:rPr>
              <a:t>~$245,700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544068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8D3DE"/>
                </a:solidFill>
                <a:latin typeface="Calibri"/>
              </a:rPr>
              <a:t>illustrative annual cost saving at assumed volume — scales ~linearly with real RFP volume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SECTIONS 10–12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Governance, Advantages &amp; Current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F3E"/>
                </a:solidFill>
                <a:latin typeface="Calibri"/>
              </a:rPr>
              <a:t>Compliance, Risk &amp;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Automated 5-rule rubric enforcement on every response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Fail-safe by construction — exactly 2 outcomes, never blended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Bounded, observable self-correction — escalates rather than guesses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Full audit trail — every decision, tool call, verdict logged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Data provenance — nothing generated from unverified model 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77639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F3E"/>
                </a:solidFill>
                <a:latin typeface="Calibri"/>
              </a:rPr>
              <a:t>Key Advantages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4340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Speed at scale, seconds to low minutes vs. hours to days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Consistency across every analyst-originated request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Zero hallucination on the numbers — always tool-retrieved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Provider flexibility — same logic on Ollama or Bedrock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Extensible — new agents added without touching existing 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14300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F3E"/>
                </a:solidFill>
                <a:latin typeface="Calibri"/>
              </a:rPr>
              <a:t>Current Status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08760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563624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2272B"/>
                </a:solidFill>
                <a:latin typeface="Calibri"/>
              </a:rPr>
              <a:t>Phase 01 — Development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38360" y="1618488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185415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240279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2272B"/>
                </a:solidFill>
                <a:latin typeface="Calibri"/>
              </a:rPr>
              <a:t>Phase 02 — Cloud Deployment (AWS)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38360" y="2295144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Dev live-verified, then torn down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62072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16936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2272B"/>
                </a:solidFill>
                <a:latin typeface="Calibri"/>
              </a:rPr>
              <a:t>Phase 03 — CI/CD (GitHub Actions)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38360" y="2971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Proven end-to-end on real AWS (Dev)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538728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593592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2272B"/>
                </a:solidFill>
                <a:latin typeface="Calibri"/>
              </a:rPr>
              <a:t>Staging / Production rollout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3648456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E8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Not yet run through the pipeline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215384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270248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2272B"/>
                </a:solidFill>
                <a:latin typeface="Calibri"/>
              </a:rPr>
              <a:t>Gateway tools / AgentCore Memory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60" y="4325112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5A6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Provisioned, not yet wired 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846320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B02A2A"/>
                </a:solidFill>
                <a:latin typeface="Calibri"/>
              </a:rPr>
              <a:t>Open Findings (Agent Behaviour &amp; Config, Not Infra)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166360"/>
            <a:ext cx="5440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0">
                <a:solidFill>
                  <a:srgbClr val="22272B"/>
                </a:solidFill>
                <a:latin typeface="Calibri"/>
              </a:rPr>
              <a:t>▪  Qual agent fabricated commentary once when the KB was genuinely empty, instead of reporting “no data found”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0">
                <a:solidFill>
                  <a:srgbClr val="22272B"/>
                </a:solidFill>
                <a:latin typeface="Calibri"/>
              </a:rPr>
              <a:t>▪  One well-grounded query still escalated after 3 attempts instead of its usual 1–2 — being investigated together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0">
                <a:solidFill>
                  <a:srgbClr val="22272B"/>
                </a:solidFill>
                <a:latin typeface="Calibri"/>
              </a:rPr>
              <a:t>▪  Dev-only config gap documented: the deployed dev Runtime's DATA_BACKEND was not set to “aws”, so it can silently fall back to local storage — flagged, fix pending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8D3DE"/>
                </a:solidFill>
                <a:latin typeface="Calibri"/>
              </a:rPr>
              <a:t>Agentic AI, applied with the same discipline as any other production financial-services system, automates one of an AMC's most labour-intensive, compliance-sensitive workflows without compromising governance — proven not only in local development but as a real, deployed, CI/CD-automated AWS service.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9900"/>
                </a:solidFill>
                <a:latin typeface="Calibri"/>
              </a:rPr>
              <a:t>Recommended Next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5669280" cy="502920"/>
          </a:xfrm>
          <a:prstGeom prst="roundRect">
            <a:avLst>
              <a:gd name="adj" fmla="val 15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1.  Run the proven deploy pipeline against Staging, then Production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46704"/>
            <a:ext cx="5669280" cy="502920"/>
          </a:xfrm>
          <a:prstGeom prst="roundRect">
            <a:avLst>
              <a:gd name="adj" fmla="val 15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2.  Apply &amp; live-verify the automated Knowledge Base sync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50208"/>
            <a:ext cx="5669280" cy="502920"/>
          </a:xfrm>
          <a:prstGeom prst="roundRect">
            <a:avLst>
              <a:gd name="adj" fmla="val 15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3.  Investigate the open compliance-judgment and config findings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53712"/>
            <a:ext cx="5669280" cy="502920"/>
          </a:xfrm>
          <a:prstGeom prst="roundRect">
            <a:avLst>
              <a:gd name="adj" fmla="val 15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4.  Load / latency testing under realistic concurrent volume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157216"/>
            <a:ext cx="5669280" cy="502920"/>
          </a:xfrm>
          <a:prstGeom prst="roundRect">
            <a:avLst>
              <a:gd name="adj" fmla="val 15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5.  Integrate the deployed Runtime into the client-facing RFP portal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760720"/>
            <a:ext cx="5669280" cy="502920"/>
          </a:xfrm>
          <a:prstGeom prst="roundRect">
            <a:avLst>
              <a:gd name="adj" fmla="val 15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6.  Wire in AgentCore Gateway tools &amp; AgentCore Memory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2331720"/>
            <a:ext cx="4983480" cy="3840480"/>
          </a:xfrm>
          <a:prstGeom prst="roundRect">
            <a:avLst>
              <a:gd name="adj" fmla="val 4000"/>
            </a:avLst>
          </a:prstGeom>
          <a:solidFill>
            <a:srgbClr val="1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251460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9900"/>
                </a:solidFill>
                <a:latin typeface="Calibri"/>
              </a:rPr>
              <a:t>Proven End-to-End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92608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▪  5-agent compliance-governed graph — Strands Agents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▪  Amazon Bedrock AgentCore Runtime — live-verified, all 4 mock funds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▪  Terraform-managed AWS footprint — reproducible, disposable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▪  GitHub Actions CI/CD — OIDC, no long-lived credentials, cold-start proven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AA7B4"/>
                </a:solidFill>
                <a:latin typeface="Calibri"/>
              </a:rPr>
              <a:t>AMC RFP &amp; Portfolio Insight Orchestrator  —  Built on the AWS Strands Agents Framework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AMC RFP &amp; Portfolio Insight Orchestrator — Phases 01–03</dc:title>
  <dc:subject>Multi-agent Strands Agents system: local dev build, AWS Bedrock AgentCore deployment, and GitHub Actions CI/CD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